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3" d="100"/>
          <a:sy n="143" d="100"/>
        </p:scale>
        <p:origin x="684" y="11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4719E97-64F0-4648-B7A5-34121029ADBB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47625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DE1A9F-FB37-405F-8A6A-FB70C71782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42391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6350"/>
            <a:ext cx="9144000" cy="5149850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300" y="1803400"/>
            <a:ext cx="5825202" cy="1234727"/>
          </a:xfrm>
        </p:spPr>
        <p:txBody>
          <a:bodyPr anchor="b">
            <a:noAutofit/>
          </a:bodyPr>
          <a:lstStyle>
            <a:lvl1pPr algn="r">
              <a:defRPr sz="405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300" y="3038125"/>
            <a:ext cx="5825202" cy="822674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6686080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27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6869416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2025651"/>
            <a:ext cx="6447501" cy="1369936"/>
          </a:xfrm>
        </p:spPr>
        <p:txBody>
          <a:bodyPr anchor="b"/>
          <a:lstStyle>
            <a:lvl1pPr algn="l">
              <a:defRPr sz="3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645300"/>
          </a:xfrm>
        </p:spPr>
        <p:txBody>
          <a:bodyPr anchor="t"/>
          <a:lstStyle>
            <a:lvl1pPr marL="0" indent="0" algn="l"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3144780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8001" y="1620442"/>
            <a:ext cx="3138026" cy="29105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17477" y="1620442"/>
            <a:ext cx="3138026" cy="29105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dirty="0"/>
              <a:t>8/22/2026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7871511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6809" y="1620737"/>
            <a:ext cx="3139217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6809" y="2052934"/>
            <a:ext cx="3139217" cy="247808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16287" y="1620737"/>
            <a:ext cx="3139214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16288" y="2052934"/>
            <a:ext cx="3139213" cy="247808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8/22/2026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820944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457200"/>
            <a:ext cx="6447501" cy="9906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8033417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8/22/2026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8429321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1123953"/>
            <a:ext cx="2890896" cy="958850"/>
          </a:xfrm>
        </p:spPr>
        <p:txBody>
          <a:bodyPr anchor="b">
            <a:normAutofit/>
          </a:bodyPr>
          <a:lstStyle>
            <a:lvl1pPr>
              <a:defRPr sz="1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0346" y="386193"/>
            <a:ext cx="3385156" cy="41448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8001" y="2082802"/>
            <a:ext cx="2890896" cy="1938337"/>
          </a:xfrm>
        </p:spPr>
        <p:txBody>
          <a:bodyPr>
            <a:normAutofit/>
          </a:bodyPr>
          <a:lstStyle>
            <a:lvl1pPr marL="0" indent="0">
              <a:buNone/>
              <a:defRPr sz="1050"/>
            </a:lvl1pPr>
            <a:lvl2pPr marL="342797" indent="0">
              <a:buNone/>
              <a:defRPr sz="1050"/>
            </a:lvl2pPr>
            <a:lvl3pPr marL="685595" indent="0">
              <a:buNone/>
              <a:defRPr sz="900"/>
            </a:lvl3pPr>
            <a:lvl4pPr marL="1028392" indent="0">
              <a:buNone/>
              <a:defRPr sz="750"/>
            </a:lvl4pPr>
            <a:lvl5pPr marL="1371188" indent="0">
              <a:buNone/>
              <a:defRPr sz="750"/>
            </a:lvl5pPr>
            <a:lvl6pPr marL="1713986" indent="0">
              <a:buNone/>
              <a:defRPr sz="750"/>
            </a:lvl6pPr>
            <a:lvl7pPr marL="2056783" indent="0">
              <a:buNone/>
              <a:defRPr sz="750"/>
            </a:lvl7pPr>
            <a:lvl8pPr marL="2399580" indent="0">
              <a:buNone/>
              <a:defRPr sz="750"/>
            </a:lvl8pPr>
            <a:lvl9pPr marL="2742377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8/22/2026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2695788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3600450"/>
            <a:ext cx="6447500" cy="425054"/>
          </a:xfrm>
        </p:spPr>
        <p:txBody>
          <a:bodyPr anchor="b">
            <a:normAutofit/>
          </a:bodyPr>
          <a:lstStyle>
            <a:lvl1pPr algn="l">
              <a:defRPr sz="1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08001" y="457200"/>
            <a:ext cx="6447501" cy="2884289"/>
          </a:xfrm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8001" y="4025504"/>
            <a:ext cx="6447500" cy="505518"/>
          </a:xfrm>
        </p:spPr>
        <p:txBody>
          <a:bodyPr>
            <a:normAutofit/>
          </a:bodyPr>
          <a:lstStyle>
            <a:lvl1pPr marL="0" indent="0">
              <a:buNone/>
              <a:defRPr sz="9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2379396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457200"/>
            <a:ext cx="6447501" cy="255270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52800"/>
            <a:ext cx="6447501" cy="1178222"/>
          </a:xfrm>
        </p:spPr>
        <p:txBody>
          <a:bodyPr anchor="ctr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8761751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8500" y="457200"/>
            <a:ext cx="6070601" cy="226695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24604" y="2724150"/>
            <a:ext cx="5418393" cy="28575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52800"/>
            <a:ext cx="6447501" cy="1178222"/>
          </a:xfrm>
        </p:spPr>
        <p:txBody>
          <a:bodyPr anchor="ctr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406403" y="592784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69758" y="2164917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sz="1350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905990686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1448991"/>
            <a:ext cx="6447501" cy="1946595"/>
          </a:xfrm>
        </p:spPr>
        <p:txBody>
          <a:bodyPr anchor="b">
            <a:normAutofit/>
          </a:bodyPr>
          <a:lstStyle>
            <a:lvl1pPr algn="l">
              <a:defRPr sz="33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1135436"/>
          </a:xfrm>
        </p:spPr>
        <p:txBody>
          <a:bodyPr anchor="t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9666602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8500" y="457200"/>
            <a:ext cx="6070601" cy="226695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07999" y="3009900"/>
            <a:ext cx="6447502" cy="385686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1135436"/>
          </a:xfrm>
        </p:spPr>
        <p:txBody>
          <a:bodyPr anchor="t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406403" y="592784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69758" y="2164917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42574862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0" y="457200"/>
            <a:ext cx="6441152" cy="226695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07999" y="3009900"/>
            <a:ext cx="6447502" cy="385686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1800">
                <a:solidFill>
                  <a:schemeClr val="accent1"/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1135436"/>
          </a:xfrm>
        </p:spPr>
        <p:txBody>
          <a:bodyPr anchor="t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1502694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8/22/2026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2953172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5755" y="457200"/>
            <a:ext cx="978557" cy="3938588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08001" y="457200"/>
            <a:ext cx="5295113" cy="393858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5549874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677240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6350"/>
            <a:ext cx="9144000" cy="5149850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08001" y="457200"/>
            <a:ext cx="6447501" cy="9906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1620442"/>
            <a:ext cx="6447501" cy="29105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3850" y="4531022"/>
            <a:ext cx="683954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8/22/2026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08001" y="4531022"/>
            <a:ext cx="4723209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2998" y="4531022"/>
            <a:ext cx="512504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71865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5" r:id="rId15"/>
    <p:sldLayoutId id="2147483666" r:id="rId16"/>
    <p:sldLayoutId id="2147483667" r:id="rId17"/>
  </p:sldLayoutIdLst>
  <p:hf sldNum="0" hdr="0" ftr="0" dt="0"/>
  <p:txStyles>
    <p:titleStyle>
      <a:lvl1pPr algn="l" defTabSz="342900" rtl="0" eaLnBrk="1" latinLnBrk="0" hangingPunct="1">
        <a:spcBef>
          <a:spcPct val="0"/>
        </a:spcBef>
        <a:buNone/>
        <a:defRPr sz="27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57175" indent="-257175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3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557213" indent="-214313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8572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001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430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859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-731520"/>
            <a:ext cx="3200400" cy="3200400"/>
          </a:xfrm>
          <a:prstGeom prst="ellipse">
            <a:avLst/>
          </a:prstGeom>
          <a:solidFill>
            <a:srgbClr val="2E5FA3">
              <a:alpha val="25000"/>
            </a:srgbClr>
          </a:solidFill>
          <a:ln w="12700">
            <a:solidFill>
              <a:srgbClr val="2E5FA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288070" y="3403003"/>
            <a:ext cx="1828800" cy="1828800"/>
          </a:xfrm>
          <a:prstGeom prst="ellipse">
            <a:avLst/>
          </a:prstGeom>
          <a:solidFill>
            <a:srgbClr val="0D9488">
              <a:alpha val="2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457200"/>
            <a:ext cx="2011680" cy="31089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45720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CSE445 · Machine Learning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60419" y="1005840"/>
            <a:ext cx="7128317" cy="12161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i="0" dirty="0">
                <a:solidFill>
                  <a:schemeClr val="bg1"/>
                </a:solidFill>
                <a:effectLst/>
                <a:latin typeface="Mona Sans VF"/>
              </a:rPr>
              <a:t>Search Result Ranking Optimization Using Learning to Rank Techniques</a:t>
            </a:r>
            <a:endParaRPr lang="en-US" sz="4000" dirty="0">
              <a:solidFill>
                <a:schemeClr val="bg1"/>
              </a:solidFill>
            </a:endParaRPr>
          </a:p>
        </p:txBody>
      </p:sp>
      <p:sp>
        <p:nvSpPr>
          <p:cNvPr id="9" name="Text 7"/>
          <p:cNvSpPr/>
          <p:nvPr/>
        </p:nvSpPr>
        <p:spPr>
          <a:xfrm>
            <a:off x="457200" y="2331720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Learning-to-Rank Pipeline Using LambdaMART on MS MARCO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57200" y="2816352"/>
            <a:ext cx="54864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3205" y="3026664"/>
            <a:ext cx="1395595" cy="749808"/>
          </a:xfrm>
          <a:prstGeom prst="rect">
            <a:avLst/>
          </a:prstGeom>
          <a:solidFill>
            <a:srgbClr val="FFFFFF">
              <a:alpha val="10000"/>
            </a:srgbClr>
          </a:solidFill>
          <a:ln w="635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57200" y="3063240"/>
            <a:ext cx="1324879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Md. </a:t>
            </a:r>
            <a:r>
              <a:rPr lang="en-US" sz="11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Atikur</a:t>
            </a: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Rahman </a:t>
            </a:r>
            <a:r>
              <a:rPr lang="en-US" sz="11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Shafi</a:t>
            </a: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19456" y="3456432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Cleaning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042549" y="3017520"/>
            <a:ext cx="1375004" cy="749808"/>
          </a:xfrm>
          <a:prstGeom prst="rect">
            <a:avLst/>
          </a:prstGeom>
          <a:solidFill>
            <a:srgbClr val="FFFFFF">
              <a:alpha val="10000"/>
            </a:srgbClr>
          </a:solidFill>
          <a:ln w="635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1716418" y="3055531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 err="1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Adrito</a:t>
            </a: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 Bhuiyan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778074" y="3438144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Sampling &amp;</a:t>
            </a:r>
          </a:p>
          <a:p>
            <a:pPr marL="0" indent="0" algn="ctr">
              <a:buNone/>
            </a:pP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612664" y="3017520"/>
            <a:ext cx="1664208" cy="749808"/>
          </a:xfrm>
          <a:prstGeom prst="rect">
            <a:avLst/>
          </a:prstGeom>
          <a:solidFill>
            <a:srgbClr val="FFFFFF">
              <a:alpha val="10000"/>
            </a:srgbClr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55648" y="3055531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 err="1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Adnin</a:t>
            </a: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 Adiba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398914" y="3406474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Development &amp;</a:t>
            </a:r>
          </a:p>
          <a:p>
            <a:pPr marL="0" indent="0" algn="ctr">
              <a:buNone/>
            </a:pP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cs typeface="Calibri" pitchFamily="34" charset="-120"/>
              </a:rPr>
              <a:t>Experimentation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474904" y="3017520"/>
            <a:ext cx="1471098" cy="749808"/>
          </a:xfrm>
          <a:prstGeom prst="rect">
            <a:avLst/>
          </a:prstGeom>
          <a:solidFill>
            <a:srgbClr val="FFFFFF">
              <a:alpha val="10000"/>
            </a:srgbClr>
          </a:solidFill>
          <a:ln w="635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5212080" y="3063808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 err="1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Sajedul</a:t>
            </a: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 Islam </a:t>
            </a:r>
            <a:r>
              <a:rPr lang="en-US" sz="1100" b="1" dirty="0" err="1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tahmid</a:t>
            </a: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 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175038" y="3401568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Construction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57200" y="470916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10  ·  North South University  ·  Summer 2026</a:t>
            </a:r>
            <a:endParaRPr lang="en-US" sz="900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7C824CE5-4702-1F19-D82E-E9CC1E8FFF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0367" y="3014439"/>
            <a:ext cx="1475360" cy="755970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34B20FD0-6756-A0B9-F220-8C4FD514F9EC}"/>
              </a:ext>
            </a:extLst>
          </p:cNvPr>
          <p:cNvSpPr txBox="1"/>
          <p:nvPr/>
        </p:nvSpPr>
        <p:spPr>
          <a:xfrm>
            <a:off x="7038275" y="3091449"/>
            <a:ext cx="172761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Sadia Islam </a:t>
            </a:r>
            <a:r>
              <a:rPr lang="en-US" sz="1100" b="1" dirty="0" err="1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Neepa</a:t>
            </a:r>
            <a:endParaRPr lang="en-US" sz="11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CB18F9C-1F2A-431C-0C15-5850AA04B0F2}"/>
              </a:ext>
            </a:extLst>
          </p:cNvPr>
          <p:cNvSpPr txBox="1"/>
          <p:nvPr/>
        </p:nvSpPr>
        <p:spPr>
          <a:xfrm>
            <a:off x="7173892" y="3373799"/>
            <a:ext cx="1471098" cy="384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setup &amp; Validation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1371600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30352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LTR Pipeline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0" y="4818888"/>
            <a:ext cx="9144000" cy="3200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4828032"/>
            <a:ext cx="8778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10  | </a:t>
            </a:r>
            <a:r>
              <a:rPr lang="en-US" sz="90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Shafi</a:t>
            </a: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</a:t>
            </a:r>
            <a:r>
              <a:rPr lang="en-US" sz="90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Adrito</a:t>
            </a: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Adiba · </a:t>
            </a:r>
            <a:r>
              <a:rPr lang="en-US" sz="90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Tahmid</a:t>
            </a: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Sadia </a:t>
            </a: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CSE445: Machine Learning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20040" y="1188720"/>
            <a:ext cx="1280160" cy="2286000"/>
          </a:xfrm>
          <a:prstGeom prst="rect">
            <a:avLst/>
          </a:prstGeom>
          <a:solidFill>
            <a:srgbClr val="F0F4F8"/>
          </a:solidFill>
          <a:ln w="19050">
            <a:solidFill>
              <a:srgbClr val="0D9488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188720"/>
            <a:ext cx="128016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2960" y="1353312"/>
            <a:ext cx="292608" cy="29260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13533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20040" y="1737360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Data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320040" y="2103120"/>
            <a:ext cx="1280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01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 MARCO v1.1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101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Hugging Face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02920" y="2880360"/>
            <a:ext cx="914400" cy="219456"/>
          </a:xfrm>
          <a:prstGeom prst="rect">
            <a:avLst/>
          </a:prstGeom>
          <a:solidFill>
            <a:srgbClr val="0D9488">
              <a:alpha val="2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80360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cs typeface="Calibri" pitchFamily="34" charset="-120"/>
              </a:rPr>
              <a:t>Sadia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600200" y="2331720"/>
            <a:ext cx="164592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764792" y="1188720"/>
            <a:ext cx="1280160" cy="2286000"/>
          </a:xfrm>
          <a:prstGeom prst="rect">
            <a:avLst/>
          </a:prstGeom>
          <a:solidFill>
            <a:srgbClr val="F0F4F8"/>
          </a:solidFill>
          <a:ln w="19050">
            <a:solidFill>
              <a:srgbClr val="2E5FA3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1764792" y="1188720"/>
            <a:ext cx="1280160" cy="73152"/>
          </a:xfrm>
          <a:prstGeom prst="rect">
            <a:avLst/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267712" y="1353312"/>
            <a:ext cx="292608" cy="292608"/>
          </a:xfrm>
          <a:prstGeom prst="ellipse">
            <a:avLst/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267712" y="13533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764792" y="1737360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1764792" y="2103120"/>
            <a:ext cx="1280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01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Dedup, normalize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101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relevance labels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1947672" y="2880360"/>
            <a:ext cx="914400" cy="219456"/>
          </a:xfrm>
          <a:prstGeom prst="rect">
            <a:avLst/>
          </a:prstGeom>
          <a:solidFill>
            <a:srgbClr val="2E5FA3">
              <a:alpha val="20000"/>
            </a:srgbClr>
          </a:solidFill>
          <a:ln w="12700">
            <a:solidFill>
              <a:srgbClr val="2E5FA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947672" y="2880360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 err="1">
                <a:solidFill>
                  <a:srgbClr val="2E5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Shafi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044952" y="2331720"/>
            <a:ext cx="164592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09544" y="1188720"/>
            <a:ext cx="1280160" cy="2286000"/>
          </a:xfrm>
          <a:prstGeom prst="rect">
            <a:avLst/>
          </a:prstGeom>
          <a:solidFill>
            <a:srgbClr val="F0F4F8"/>
          </a:solidFill>
          <a:ln w="19050">
            <a:solidFill>
              <a:srgbClr val="7C3AED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09544" y="1188720"/>
            <a:ext cx="1280160" cy="731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712464" y="1353312"/>
            <a:ext cx="292608" cy="29260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712464" y="13533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209544" y="1737360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Eng.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3209544" y="2103120"/>
            <a:ext cx="1280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01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features: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101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BM25, TF-IDF…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3366127" y="2880360"/>
            <a:ext cx="914400" cy="219456"/>
          </a:xfrm>
          <a:prstGeom prst="rect">
            <a:avLst/>
          </a:prstGeom>
          <a:solidFill>
            <a:srgbClr val="7C3AED">
              <a:alpha val="2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392424" y="2880360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 err="1">
                <a:solidFill>
                  <a:srgbClr val="7030A0"/>
                </a:solidFill>
              </a:rPr>
              <a:t>Shafi</a:t>
            </a:r>
            <a:r>
              <a:rPr lang="en-US" sz="900" dirty="0">
                <a:solidFill>
                  <a:srgbClr val="7030A0"/>
                </a:solidFill>
              </a:rPr>
              <a:t> &amp; </a:t>
            </a:r>
            <a:r>
              <a:rPr lang="en-US" sz="900" dirty="0" err="1">
                <a:solidFill>
                  <a:srgbClr val="7030A0"/>
                </a:solidFill>
              </a:rPr>
              <a:t>Adrito</a:t>
            </a:r>
            <a:endParaRPr lang="en-US" sz="900" dirty="0">
              <a:solidFill>
                <a:srgbClr val="7030A0"/>
              </a:solidFill>
            </a:endParaRPr>
          </a:p>
        </p:txBody>
      </p:sp>
      <p:sp>
        <p:nvSpPr>
          <p:cNvPr id="33" name="Shape 31"/>
          <p:cNvSpPr/>
          <p:nvPr/>
        </p:nvSpPr>
        <p:spPr>
          <a:xfrm>
            <a:off x="4489704" y="2331720"/>
            <a:ext cx="164592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654296" y="1188720"/>
            <a:ext cx="1280160" cy="2286000"/>
          </a:xfrm>
          <a:prstGeom prst="rect">
            <a:avLst/>
          </a:prstGeom>
          <a:solidFill>
            <a:srgbClr val="F0F4F8"/>
          </a:solidFill>
          <a:ln w="19050">
            <a:solidFill>
              <a:srgbClr val="D97706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654296" y="1188720"/>
            <a:ext cx="1280160" cy="731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157216" y="1353312"/>
            <a:ext cx="292608" cy="29260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157216" y="13533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4654296" y="1737360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LambdaMART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4654296" y="2103120"/>
            <a:ext cx="1280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01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ranker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101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rank:ndcg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837176" y="2880360"/>
            <a:ext cx="914400" cy="219456"/>
          </a:xfrm>
          <a:prstGeom prst="rect">
            <a:avLst/>
          </a:prstGeom>
          <a:solidFill>
            <a:srgbClr val="D97706">
              <a:alpha val="20000"/>
            </a:srgbClr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37176" y="2880360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 err="1">
                <a:solidFill>
                  <a:srgbClr val="D97706"/>
                </a:solidFill>
                <a:latin typeface="Calibri" pitchFamily="34" charset="0"/>
                <a:cs typeface="Calibri" pitchFamily="34" charset="-120"/>
              </a:rPr>
              <a:t>Adrito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5934456" y="2331720"/>
            <a:ext cx="164592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099048" y="1188720"/>
            <a:ext cx="1280160" cy="2286000"/>
          </a:xfrm>
          <a:prstGeom prst="rect">
            <a:avLst/>
          </a:prstGeom>
          <a:solidFill>
            <a:srgbClr val="F0F4F8"/>
          </a:solidFill>
          <a:ln w="19050">
            <a:solidFill>
              <a:srgbClr val="16A34A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6099048" y="1188720"/>
            <a:ext cx="1280160" cy="7315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601968" y="1353312"/>
            <a:ext cx="292608" cy="29260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601968" y="13533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6099048" y="1737360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150" dirty="0"/>
          </a:p>
        </p:txBody>
      </p:sp>
      <p:sp>
        <p:nvSpPr>
          <p:cNvPr id="48" name="Text 46"/>
          <p:cNvSpPr/>
          <p:nvPr/>
        </p:nvSpPr>
        <p:spPr>
          <a:xfrm>
            <a:off x="6099048" y="2103120"/>
            <a:ext cx="1280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01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NDCG, MAP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101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MRR, P@10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6281928" y="2880360"/>
            <a:ext cx="914400" cy="219456"/>
          </a:xfrm>
          <a:prstGeom prst="rect">
            <a:avLst/>
          </a:prstGeom>
          <a:solidFill>
            <a:srgbClr val="16A34A">
              <a:alpha val="20000"/>
            </a:srgbClr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281928" y="2880360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 err="1">
                <a:solidFill>
                  <a:srgbClr val="16A34A"/>
                </a:solidFill>
                <a:latin typeface="Calibri" pitchFamily="34" charset="0"/>
                <a:cs typeface="Calibri" pitchFamily="34" charset="-120"/>
              </a:rPr>
              <a:t>Tahmid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7379208" y="2331720"/>
            <a:ext cx="164592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7543800" y="1188720"/>
            <a:ext cx="1280160" cy="2286000"/>
          </a:xfrm>
          <a:prstGeom prst="rect">
            <a:avLst/>
          </a:prstGeom>
          <a:solidFill>
            <a:srgbClr val="F0F4F8"/>
          </a:solidFill>
          <a:ln w="19050">
            <a:solidFill>
              <a:srgbClr val="DC2626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7543800" y="1188720"/>
            <a:ext cx="1280160" cy="7315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8046720" y="1353312"/>
            <a:ext cx="292608" cy="292608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8046720" y="13533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6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7543800" y="1737360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1150" dirty="0"/>
          </a:p>
        </p:txBody>
      </p:sp>
      <p:sp>
        <p:nvSpPr>
          <p:cNvPr id="57" name="Text 55"/>
          <p:cNvSpPr/>
          <p:nvPr/>
        </p:nvSpPr>
        <p:spPr>
          <a:xfrm>
            <a:off x="7543800" y="2103120"/>
            <a:ext cx="1280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01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app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101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2-stage retrieval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7726680" y="2880360"/>
            <a:ext cx="914400" cy="219456"/>
          </a:xfrm>
          <a:prstGeom prst="rect">
            <a:avLst/>
          </a:prstGeom>
          <a:solidFill>
            <a:srgbClr val="DC2626">
              <a:alpha val="20000"/>
            </a:srgbClr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59" name="Text 57"/>
          <p:cNvSpPr/>
          <p:nvPr/>
        </p:nvSpPr>
        <p:spPr>
          <a:xfrm>
            <a:off x="7726680" y="2880360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Adiba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320040" y="370332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Outputs: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320040" y="3950208"/>
            <a:ext cx="2011680" cy="237744"/>
          </a:xfrm>
          <a:prstGeom prst="rect">
            <a:avLst/>
          </a:prstGeom>
          <a:solidFill>
            <a:srgbClr val="D6E4F7"/>
          </a:solidFill>
          <a:ln w="6350">
            <a:solidFill>
              <a:srgbClr val="2E5FA3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320040" y="395020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E5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clean_search_dataset.csv</a:t>
            </a:r>
            <a:endParaRPr lang="en-US" sz="850" dirty="0"/>
          </a:p>
        </p:txBody>
      </p:sp>
      <p:sp>
        <p:nvSpPr>
          <p:cNvPr id="63" name="Shape 61"/>
          <p:cNvSpPr/>
          <p:nvPr/>
        </p:nvSpPr>
        <p:spPr>
          <a:xfrm>
            <a:off x="2468880" y="3950208"/>
            <a:ext cx="2011680" cy="237744"/>
          </a:xfrm>
          <a:prstGeom prst="rect">
            <a:avLst/>
          </a:prstGeom>
          <a:solidFill>
            <a:srgbClr val="D6E4F7"/>
          </a:solidFill>
          <a:ln w="6350">
            <a:solidFill>
              <a:srgbClr val="2E5FA3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2468880" y="395020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E5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features_dataset.csv</a:t>
            </a:r>
            <a:endParaRPr lang="en-US" sz="850" dirty="0"/>
          </a:p>
        </p:txBody>
      </p:sp>
      <p:sp>
        <p:nvSpPr>
          <p:cNvPr id="65" name="Shape 63"/>
          <p:cNvSpPr/>
          <p:nvPr/>
        </p:nvSpPr>
        <p:spPr>
          <a:xfrm>
            <a:off x="4617720" y="3950208"/>
            <a:ext cx="2011680" cy="237744"/>
          </a:xfrm>
          <a:prstGeom prst="rect">
            <a:avLst/>
          </a:prstGeom>
          <a:solidFill>
            <a:srgbClr val="D6E4F7"/>
          </a:solidFill>
          <a:ln w="6350">
            <a:solidFill>
              <a:srgbClr val="2E5FA3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617720" y="395020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E5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trained_ranking_model.pkl</a:t>
            </a:r>
            <a:endParaRPr lang="en-US" sz="850" dirty="0"/>
          </a:p>
        </p:txBody>
      </p:sp>
      <p:sp>
        <p:nvSpPr>
          <p:cNvPr id="67" name="Shape 65"/>
          <p:cNvSpPr/>
          <p:nvPr/>
        </p:nvSpPr>
        <p:spPr>
          <a:xfrm>
            <a:off x="6766560" y="3950208"/>
            <a:ext cx="2011680" cy="237744"/>
          </a:xfrm>
          <a:prstGeom prst="rect">
            <a:avLst/>
          </a:prstGeom>
          <a:solidFill>
            <a:srgbClr val="D6E4F7"/>
          </a:solidFill>
          <a:ln w="6350">
            <a:solidFill>
              <a:srgbClr val="2E5FA3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6766560" y="395020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E5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evaluation_report.csv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1371600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</a:t>
            </a:r>
            <a:r>
              <a:rPr lang="en-US" sz="9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Shafi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30352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 MARCO v1.1 + Data Cleaning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0" y="4818888"/>
            <a:ext cx="9144000" cy="3200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4828032"/>
            <a:ext cx="8778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10  | </a:t>
            </a:r>
            <a:r>
              <a:rPr lang="en-US" sz="90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Shafi</a:t>
            </a: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</a:t>
            </a:r>
            <a:r>
              <a:rPr lang="en-US" sz="90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Adrito</a:t>
            </a: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Adiba · </a:t>
            </a:r>
            <a:r>
              <a:rPr lang="en-US" sz="90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Tahmid</a:t>
            </a: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Sadia </a:t>
            </a: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CSE445: Machine Learning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20040" y="1115568"/>
            <a:ext cx="1920240" cy="1005840"/>
          </a:xfrm>
          <a:prstGeom prst="rect">
            <a:avLst/>
          </a:prstGeom>
          <a:solidFill>
            <a:srgbClr val="F0F4F8"/>
          </a:solidFill>
          <a:ln w="6350">
            <a:solidFill>
              <a:srgbClr val="94A3B8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115568"/>
            <a:ext cx="54864" cy="1005840"/>
          </a:xfrm>
          <a:prstGeom prst="rect">
            <a:avLst/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188720"/>
            <a:ext cx="1737360" cy="55321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3000" b="1" dirty="0">
                <a:solidFill>
                  <a:srgbClr val="2E5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49,293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57200" y="1698955"/>
            <a:ext cx="1737360" cy="38221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Query–Passage Pairs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468880" y="1115568"/>
            <a:ext cx="1920240" cy="1005840"/>
          </a:xfrm>
          <a:prstGeom prst="rect">
            <a:avLst/>
          </a:prstGeom>
          <a:solidFill>
            <a:srgbClr val="F0F4F8"/>
          </a:solidFill>
          <a:ln w="6350">
            <a:solidFill>
              <a:srgbClr val="94A3B8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468880" y="1115568"/>
            <a:ext cx="54864" cy="10058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06040" y="1188720"/>
            <a:ext cx="1737360" cy="55321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3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6,000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2606040" y="1698955"/>
            <a:ext cx="1737360" cy="38221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Queries Used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0040" y="2304288"/>
            <a:ext cx="1920240" cy="1005840"/>
          </a:xfrm>
          <a:prstGeom prst="rect">
            <a:avLst/>
          </a:prstGeom>
          <a:solidFill>
            <a:srgbClr val="F0F4F8"/>
          </a:solidFill>
          <a:ln w="6350">
            <a:solidFill>
              <a:srgbClr val="94A3B8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" y="2304288"/>
            <a:ext cx="54864" cy="10058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2377440"/>
            <a:ext cx="1737360" cy="55321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3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6,437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457200" y="2887675"/>
            <a:ext cx="1737360" cy="38221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Relevant Pairs (13.1%)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468880" y="2304288"/>
            <a:ext cx="1920240" cy="1005840"/>
          </a:xfrm>
          <a:prstGeom prst="rect">
            <a:avLst/>
          </a:prstGeom>
          <a:solidFill>
            <a:srgbClr val="F0F4F8"/>
          </a:solidFill>
          <a:ln w="6350">
            <a:solidFill>
              <a:srgbClr val="94A3B8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468880" y="2304288"/>
            <a:ext cx="54864" cy="10058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606040" y="2377440"/>
            <a:ext cx="1737360" cy="55321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3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8.2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2606040" y="2887675"/>
            <a:ext cx="1737360" cy="38221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Passages / Query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663440" y="1078992"/>
            <a:ext cx="4114800" cy="3429000"/>
          </a:xfrm>
          <a:prstGeom prst="rect">
            <a:avLst/>
          </a:prstGeom>
          <a:solidFill>
            <a:srgbClr val="F0F4F8"/>
          </a:solidFill>
          <a:ln w="6350">
            <a:solidFill>
              <a:srgbClr val="94A3B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63440" y="1115568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 err="1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Shafi's</a:t>
            </a: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Cleaning Pipeline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846320" y="1508760"/>
            <a:ext cx="237744" cy="23774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46320" y="150876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①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166360" y="1517904"/>
            <a:ext cx="3429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01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Lowercase + HTML strip + punctuation removal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846320" y="1938528"/>
            <a:ext cx="237744" cy="23774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46320" y="193852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②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166360" y="1947672"/>
            <a:ext cx="3429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01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Whitespace normalization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846320" y="2368296"/>
            <a:ext cx="237744" cy="23774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46320" y="236829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③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166360" y="2377440"/>
            <a:ext cx="3429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01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Deduplication on (qid, pid) pairs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846320" y="2798064"/>
            <a:ext cx="237744" cy="23774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46320" y="279806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④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166360" y="2807208"/>
            <a:ext cx="3429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01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Null-value filtering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4846320" y="3227832"/>
            <a:ext cx="237744" cy="23774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46320" y="322783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⑤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166360" y="3236976"/>
            <a:ext cx="3429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01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Relevance from is_selected field (HuggingFace)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4846320" y="3657600"/>
            <a:ext cx="237744" cy="23774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46320" y="365760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⑥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5166360" y="3666744"/>
            <a:ext cx="3429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01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→ clean_search_dataset.csv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320040" y="3520440"/>
            <a:ext cx="4206240" cy="384048"/>
          </a:xfrm>
          <a:prstGeom prst="rect">
            <a:avLst/>
          </a:prstGeom>
          <a:solidFill>
            <a:srgbClr val="D6E4F7"/>
          </a:solidFill>
          <a:ln w="6350">
            <a:solidFill>
              <a:srgbClr val="2E5FA3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20040" y="3520440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2E5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huggingface.co/datasets/microsoft/ms_marco  (v1.1, validation split)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1371600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FEATURES: </a:t>
            </a:r>
            <a:r>
              <a:rPr lang="en-US" sz="9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Shafi</a:t>
            </a: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&amp; </a:t>
            </a:r>
            <a:r>
              <a:rPr lang="en-US" sz="9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Adrito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30352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Ranking Features Across 3 Families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0" y="4818888"/>
            <a:ext cx="9144000" cy="3200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4828032"/>
            <a:ext cx="8778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10  | </a:t>
            </a:r>
            <a:r>
              <a:rPr lang="en-US" sz="90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Shafi</a:t>
            </a: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</a:t>
            </a:r>
            <a:r>
              <a:rPr lang="en-US" sz="90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Adrito</a:t>
            </a: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Adiba · </a:t>
            </a:r>
            <a:r>
              <a:rPr lang="en-US" sz="90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Tahmid</a:t>
            </a: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Sadia </a:t>
            </a: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CSE445: Machine Learning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20040" y="1097280"/>
            <a:ext cx="2743200" cy="3364992"/>
          </a:xfrm>
          <a:prstGeom prst="rect">
            <a:avLst/>
          </a:prstGeom>
          <a:solidFill>
            <a:srgbClr val="F0F4F8"/>
          </a:solidFill>
          <a:ln w="19050">
            <a:solidFill>
              <a:srgbClr val="2E5FA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1097280"/>
            <a:ext cx="2743200" cy="347472"/>
          </a:xfrm>
          <a:prstGeom prst="rect">
            <a:avLst/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09728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Lexical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1536192"/>
            <a:ext cx="2468880" cy="329184"/>
          </a:xfrm>
          <a:prstGeom prst="rect">
            <a:avLst/>
          </a:prstGeom>
          <a:solidFill>
            <a:srgbClr val="FFFFFF"/>
          </a:solidFill>
          <a:ln w="3810">
            <a:solidFill>
              <a:srgbClr val="2E5FA3">
                <a:alpha val="5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1536192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term_overlap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1984248"/>
            <a:ext cx="2468880" cy="329184"/>
          </a:xfrm>
          <a:prstGeom prst="rect">
            <a:avLst/>
          </a:prstGeom>
          <a:solidFill>
            <a:srgbClr val="FFFFFF"/>
          </a:solidFill>
          <a:ln w="3810">
            <a:solidFill>
              <a:srgbClr val="2E5FA3">
                <a:alpha val="5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1984248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keyword_density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57200" y="2432304"/>
            <a:ext cx="2468880" cy="329184"/>
          </a:xfrm>
          <a:prstGeom prst="rect">
            <a:avLst/>
          </a:prstGeom>
          <a:solidFill>
            <a:srgbClr val="FFFFFF"/>
          </a:solidFill>
          <a:ln w="3810">
            <a:solidFill>
              <a:srgbClr val="2E5FA3">
                <a:alpha val="5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2432304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exact_match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2880360"/>
            <a:ext cx="2468880" cy="329184"/>
          </a:xfrm>
          <a:prstGeom prst="rect">
            <a:avLst/>
          </a:prstGeom>
          <a:solidFill>
            <a:srgbClr val="FFFFFF"/>
          </a:solidFill>
          <a:ln w="3810">
            <a:solidFill>
              <a:srgbClr val="2E5FA3">
                <a:alpha val="5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2880360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jaccard_similarity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57200" y="3328416"/>
            <a:ext cx="2468880" cy="329184"/>
          </a:xfrm>
          <a:prstGeom prst="rect">
            <a:avLst/>
          </a:prstGeom>
          <a:solidFill>
            <a:srgbClr val="FFFFFF"/>
          </a:solidFill>
          <a:ln w="3810">
            <a:solidFill>
              <a:srgbClr val="2E5FA3">
                <a:alpha val="5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3328416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term_overlap_bigram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7200" y="3776472"/>
            <a:ext cx="2468880" cy="329184"/>
          </a:xfrm>
          <a:prstGeom prst="rect">
            <a:avLst/>
          </a:prstGeom>
          <a:solidFill>
            <a:srgbClr val="FFFFFF"/>
          </a:solidFill>
          <a:ln w="3810">
            <a:solidFill>
              <a:srgbClr val="2E5FA3">
                <a:alpha val="5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3776472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query_doc_len_ratio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246120" y="1097280"/>
            <a:ext cx="2743200" cy="3364992"/>
          </a:xfrm>
          <a:prstGeom prst="rect">
            <a:avLst/>
          </a:prstGeom>
          <a:solidFill>
            <a:srgbClr val="F0F4F8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46120" y="1097280"/>
            <a:ext cx="274320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46120" y="109728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383280" y="1536192"/>
            <a:ext cx="2468880" cy="329184"/>
          </a:xfrm>
          <a:prstGeom prst="rect">
            <a:avLst/>
          </a:prstGeom>
          <a:solidFill>
            <a:srgbClr val="FFFFFF"/>
          </a:solidFill>
          <a:ln w="3810">
            <a:solidFill>
              <a:srgbClr val="0D9488">
                <a:alpha val="5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74720" y="1536192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tfidf_cosine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3383280" y="1984248"/>
            <a:ext cx="2468880" cy="329184"/>
          </a:xfrm>
          <a:prstGeom prst="rect">
            <a:avLst/>
          </a:prstGeom>
          <a:solidFill>
            <a:srgbClr val="FFFFFF"/>
          </a:solidFill>
          <a:ln w="3810">
            <a:solidFill>
              <a:srgbClr val="0D9488">
                <a:alpha val="5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74720" y="1984248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bm25_score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383280" y="2432304"/>
            <a:ext cx="2468880" cy="329184"/>
          </a:xfrm>
          <a:prstGeom prst="rect">
            <a:avLst/>
          </a:prstGeom>
          <a:solidFill>
            <a:srgbClr val="FFFFFF"/>
          </a:solidFill>
          <a:ln w="3810">
            <a:solidFill>
              <a:srgbClr val="0D9488">
                <a:alpha val="50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474720" y="2432304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idf_sum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3383280" y="2880360"/>
            <a:ext cx="2468880" cy="329184"/>
          </a:xfrm>
          <a:prstGeom prst="rect">
            <a:avLst/>
          </a:prstGeom>
          <a:solidFill>
            <a:srgbClr val="FFFFFF"/>
          </a:solidFill>
          <a:ln w="3810">
            <a:solidFill>
              <a:srgbClr val="0D9488">
                <a:alpha val="50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474720" y="2880360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avg_idf_overlap_terms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3383280" y="3328416"/>
            <a:ext cx="2468880" cy="329184"/>
          </a:xfrm>
          <a:prstGeom prst="rect">
            <a:avLst/>
          </a:prstGeom>
          <a:solidFill>
            <a:srgbClr val="FFFFFF"/>
          </a:solidFill>
          <a:ln w="3810">
            <a:solidFill>
              <a:srgbClr val="0D9488">
                <a:alpha val="50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474720" y="3328416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tf_idf_sum_overlap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3383280" y="3776472"/>
            <a:ext cx="2468880" cy="329184"/>
          </a:xfrm>
          <a:prstGeom prst="rect">
            <a:avLst/>
          </a:prstGeom>
          <a:solidFill>
            <a:srgbClr val="FFFFFF"/>
          </a:solidFill>
          <a:ln w="3810">
            <a:solidFill>
              <a:srgbClr val="0D9488">
                <a:alpha val="50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474720" y="3776472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passage_uniq_ratio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6172200" y="1097280"/>
            <a:ext cx="2743200" cy="3364992"/>
          </a:xfrm>
          <a:prstGeom prst="rect">
            <a:avLst/>
          </a:prstGeom>
          <a:solidFill>
            <a:srgbClr val="F0F4F8"/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172200" y="1097280"/>
            <a:ext cx="2743200" cy="34747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172200" y="109728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Positional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6309360" y="1536192"/>
            <a:ext cx="2468880" cy="329184"/>
          </a:xfrm>
          <a:prstGeom prst="rect">
            <a:avLst/>
          </a:prstGeom>
          <a:solidFill>
            <a:srgbClr val="FFFFFF"/>
          </a:solidFill>
          <a:ln w="3810">
            <a:solidFill>
              <a:srgbClr val="D97706">
                <a:alpha val="5000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400800" y="1536192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first_occurrence_rank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6309360" y="1984248"/>
            <a:ext cx="2468880" cy="329184"/>
          </a:xfrm>
          <a:prstGeom prst="rect">
            <a:avLst/>
          </a:prstGeom>
          <a:solidFill>
            <a:srgbClr val="FFFFFF"/>
          </a:solidFill>
          <a:ln w="3810">
            <a:solidFill>
              <a:srgbClr val="D97706">
                <a:alpha val="5000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400800" y="1984248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dwell_time_proxy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6309360" y="2432304"/>
            <a:ext cx="2468880" cy="329184"/>
          </a:xfrm>
          <a:prstGeom prst="rect">
            <a:avLst/>
          </a:prstGeom>
          <a:solidFill>
            <a:srgbClr val="FFFFFF"/>
          </a:solidFill>
          <a:ln w="3810">
            <a:solidFill>
              <a:srgbClr val="D97706">
                <a:alpha val="5000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400800" y="2432304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ctr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6309360" y="2880360"/>
            <a:ext cx="2468880" cy="329184"/>
          </a:xfrm>
          <a:prstGeom prst="rect">
            <a:avLst/>
          </a:prstGeom>
          <a:solidFill>
            <a:srgbClr val="FFFFFF"/>
          </a:solidFill>
          <a:ln w="3810">
            <a:solidFill>
              <a:srgbClr val="D97706">
                <a:alpha val="5000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400800" y="2880360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query_len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6309360" y="3328416"/>
            <a:ext cx="2468880" cy="329184"/>
          </a:xfrm>
          <a:prstGeom prst="rect">
            <a:avLst/>
          </a:prstGeom>
          <a:solidFill>
            <a:srgbClr val="FFFFFF"/>
          </a:solidFill>
          <a:ln w="3810">
            <a:solidFill>
              <a:srgbClr val="D97706">
                <a:alpha val="50000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400800" y="3328416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doc_len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6309360" y="3776472"/>
            <a:ext cx="2468880" cy="329184"/>
          </a:xfrm>
          <a:prstGeom prst="rect">
            <a:avLst/>
          </a:prstGeom>
          <a:solidFill>
            <a:srgbClr val="FFFFFF"/>
          </a:solidFill>
          <a:ln w="3810">
            <a:solidFill>
              <a:srgbClr val="D97706">
                <a:alpha val="50000"/>
              </a:srgbClr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400800" y="3776472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query_avg_tf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320040" y="4572000"/>
            <a:ext cx="8503920" cy="109728"/>
          </a:xfrm>
          <a:prstGeom prst="rect">
            <a:avLst/>
          </a:prstGeom>
          <a:solidFill>
            <a:srgbClr val="94A3B8">
              <a:alpha val="40000"/>
            </a:srgbClr>
          </a:solidFill>
          <a:ln w="12700">
            <a:solidFill>
              <a:srgbClr val="94A3B8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1371600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MODEL: </a:t>
            </a:r>
            <a:r>
              <a:rPr lang="en-US" sz="9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Adrito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30352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LambdaMART: Listwise Learning to Rank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0" y="4818888"/>
            <a:ext cx="9144000" cy="3200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4828032"/>
            <a:ext cx="8778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10  | </a:t>
            </a:r>
            <a:r>
              <a:rPr lang="en-US" sz="90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Shafi</a:t>
            </a: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</a:t>
            </a:r>
            <a:r>
              <a:rPr lang="en-US" sz="90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Adrito</a:t>
            </a: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Adiba · </a:t>
            </a:r>
            <a:r>
              <a:rPr lang="en-US" sz="90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Tahmid</a:t>
            </a: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Sadia </a:t>
            </a: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CSE445: Machine Learning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20040" y="111556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 Paradigms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" y="1417320"/>
            <a:ext cx="3840480" cy="868680"/>
          </a:xfrm>
          <a:prstGeom prst="rect">
            <a:avLst/>
          </a:prstGeom>
          <a:solidFill>
            <a:srgbClr val="F0F4F8"/>
          </a:solidFill>
          <a:ln w="10160">
            <a:solidFill>
              <a:srgbClr val="DC262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" y="1417320"/>
            <a:ext cx="64008" cy="8686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463040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Pointwise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173736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01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score per doc.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01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Ignores relative order.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0040" y="2404872"/>
            <a:ext cx="3840480" cy="868680"/>
          </a:xfrm>
          <a:prstGeom prst="rect">
            <a:avLst/>
          </a:prstGeom>
          <a:solidFill>
            <a:srgbClr val="F0F4F8"/>
          </a:solidFill>
          <a:ln w="10160">
            <a:solidFill>
              <a:srgbClr val="D9770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" y="2404872"/>
            <a:ext cx="64008" cy="8686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450592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Pairwise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2920" y="2724912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01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doc A &gt; doc B.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01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Better, but not list-aware.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0040" y="3392424"/>
            <a:ext cx="3840480" cy="868680"/>
          </a:xfrm>
          <a:prstGeom prst="rect">
            <a:avLst/>
          </a:prstGeom>
          <a:solidFill>
            <a:srgbClr val="F0FDF4"/>
          </a:solidFill>
          <a:ln w="25400">
            <a:solidFill>
              <a:srgbClr val="16A34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0040" y="3392424"/>
            <a:ext cx="64008" cy="86868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3438144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Listwise ✓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02920" y="3712464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01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 full ranked list.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01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LambdaMART = SOTA.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480560" y="1078992"/>
            <a:ext cx="4297680" cy="3401568"/>
          </a:xfrm>
          <a:prstGeom prst="rect">
            <a:avLst/>
          </a:prstGeom>
          <a:solidFill>
            <a:srgbClr val="F0F4F8"/>
          </a:solidFill>
          <a:ln w="12700">
            <a:solidFill>
              <a:srgbClr val="2E5FA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480560" y="1115568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Ranker Configuration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0" y="1508760"/>
            <a:ext cx="4114800" cy="338328"/>
          </a:xfrm>
          <a:prstGeom prst="rect">
            <a:avLst/>
          </a:prstGeom>
          <a:solidFill>
            <a:srgbClr val="FFFFFF"/>
          </a:solidFill>
          <a:ln w="3810">
            <a:solidFill>
              <a:srgbClr val="94A3B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63440" y="1517904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492240" y="1517904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01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rank:ndcg   (LambdaMART)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0" y="1865376"/>
            <a:ext cx="4114800" cy="338328"/>
          </a:xfrm>
          <a:prstGeom prst="rect">
            <a:avLst/>
          </a:prstGeom>
          <a:solidFill>
            <a:srgbClr val="F0F4F8"/>
          </a:solidFill>
          <a:ln w="3810">
            <a:solidFill>
              <a:srgbClr val="94A3B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63440" y="18745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n_estimators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492240" y="187452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01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 trees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72000" y="2221992"/>
            <a:ext cx="4114800" cy="338328"/>
          </a:xfrm>
          <a:prstGeom prst="rect">
            <a:avLst/>
          </a:prstGeom>
          <a:solidFill>
            <a:srgbClr val="FFFFFF"/>
          </a:solidFill>
          <a:ln w="3810">
            <a:solidFill>
              <a:srgbClr val="94A3B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63440" y="2231136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rate η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492240" y="2231136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01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0.05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572000" y="2578608"/>
            <a:ext cx="4114800" cy="338328"/>
          </a:xfrm>
          <a:prstGeom prst="rect">
            <a:avLst/>
          </a:prstGeom>
          <a:solidFill>
            <a:srgbClr val="F0F4F8"/>
          </a:solidFill>
          <a:ln w="3810">
            <a:solidFill>
              <a:srgbClr val="94A3B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663440" y="258775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max_depth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492240" y="2587752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01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572000" y="2935224"/>
            <a:ext cx="4114800" cy="338328"/>
          </a:xfrm>
          <a:prstGeom prst="rect">
            <a:avLst/>
          </a:prstGeom>
          <a:solidFill>
            <a:srgbClr val="FFFFFF"/>
          </a:solidFill>
          <a:ln w="3810">
            <a:solidFill>
              <a:srgbClr val="94A3B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663440" y="294436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subsample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492240" y="2944368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01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0.80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572000" y="3291840"/>
            <a:ext cx="4114800" cy="338328"/>
          </a:xfrm>
          <a:prstGeom prst="rect">
            <a:avLst/>
          </a:prstGeom>
          <a:solidFill>
            <a:srgbClr val="F0F4F8"/>
          </a:solidFill>
          <a:ln w="3810">
            <a:solidFill>
              <a:srgbClr val="94A3B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663440" y="3300984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colsample_bytree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492240" y="3300984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01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0.80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572000" y="3648456"/>
            <a:ext cx="4114800" cy="338328"/>
          </a:xfrm>
          <a:prstGeom prst="rect">
            <a:avLst/>
          </a:prstGeom>
          <a:solidFill>
            <a:srgbClr val="FFFFFF"/>
          </a:solidFill>
          <a:ln w="3810">
            <a:solidFill>
              <a:srgbClr val="94A3B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663440" y="36576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train/test split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492240" y="365760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01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 / 20 by query group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572000" y="4005072"/>
            <a:ext cx="4114800" cy="338328"/>
          </a:xfrm>
          <a:prstGeom prst="rect">
            <a:avLst/>
          </a:prstGeom>
          <a:solidFill>
            <a:srgbClr val="F0F4F8"/>
          </a:solidFill>
          <a:ln w="3810">
            <a:solidFill>
              <a:srgbClr val="94A3B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663440" y="4014216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group-aware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6492240" y="4014216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01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GroupShuffleSplit (no leakage)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1371600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EVALUATION: </a:t>
            </a:r>
            <a:r>
              <a:rPr lang="en-US" sz="9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Tahmid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30352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Results: NDCG@10 = 0.8241  |  MAP = 0.7319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0" y="4818888"/>
            <a:ext cx="9144000" cy="3200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4828032"/>
            <a:ext cx="8778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10  | </a:t>
            </a:r>
            <a:r>
              <a:rPr lang="en-US" sz="90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Shafi</a:t>
            </a: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</a:t>
            </a:r>
            <a:r>
              <a:rPr lang="en-US" sz="90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Adrito</a:t>
            </a: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Adiba · </a:t>
            </a:r>
            <a:r>
              <a:rPr lang="en-US" sz="90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Tahmid</a:t>
            </a: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Sadia </a:t>
            </a: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CSE445: Machine Learning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20040" y="1115568"/>
            <a:ext cx="1993392" cy="1371600"/>
          </a:xfrm>
          <a:prstGeom prst="rect">
            <a:avLst/>
          </a:prstGeom>
          <a:solidFill>
            <a:srgbClr val="F0F4F8"/>
          </a:solidFill>
          <a:ln w="19050">
            <a:solidFill>
              <a:srgbClr val="0D9488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115568"/>
            <a:ext cx="1993392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207008"/>
            <a:ext cx="19933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0.8241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320040" y="1828800"/>
            <a:ext cx="19933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NDCG@10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68680" y="2139696"/>
            <a:ext cx="896112" cy="219456"/>
          </a:xfrm>
          <a:prstGeom prst="rect">
            <a:avLst/>
          </a:prstGeom>
          <a:solidFill>
            <a:srgbClr val="16A34A">
              <a:alpha val="25000"/>
            </a:srgbClr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2139696"/>
            <a:ext cx="896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+5.3% vs base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496312" y="1115568"/>
            <a:ext cx="1993392" cy="1371600"/>
          </a:xfrm>
          <a:prstGeom prst="rect">
            <a:avLst/>
          </a:prstGeom>
          <a:solidFill>
            <a:srgbClr val="F0F4F8"/>
          </a:solidFill>
          <a:ln w="19050">
            <a:solidFill>
              <a:srgbClr val="2E5FA3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496312" y="1115568"/>
            <a:ext cx="1993392" cy="64008"/>
          </a:xfrm>
          <a:prstGeom prst="rect">
            <a:avLst/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496312" y="1207008"/>
            <a:ext cx="19933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2E5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0.7319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2496312" y="1828800"/>
            <a:ext cx="19933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044952" y="2139696"/>
            <a:ext cx="896112" cy="219456"/>
          </a:xfrm>
          <a:prstGeom prst="rect">
            <a:avLst/>
          </a:prstGeom>
          <a:solidFill>
            <a:srgbClr val="16A34A">
              <a:alpha val="25000"/>
            </a:srgbClr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044952" y="2139696"/>
            <a:ext cx="896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+5.8% vs base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672584" y="1115568"/>
            <a:ext cx="1993392" cy="1371600"/>
          </a:xfrm>
          <a:prstGeom prst="rect">
            <a:avLst/>
          </a:prstGeom>
          <a:solidFill>
            <a:srgbClr val="F0F4F8"/>
          </a:solidFill>
          <a:ln w="19050">
            <a:solidFill>
              <a:srgbClr val="16A34A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72584" y="1115568"/>
            <a:ext cx="1993392" cy="6400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72584" y="1207008"/>
            <a:ext cx="19933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0.7538</a:t>
            </a:r>
            <a:endParaRPr lang="en-US" sz="3400" dirty="0"/>
          </a:p>
        </p:txBody>
      </p:sp>
      <p:sp>
        <p:nvSpPr>
          <p:cNvPr id="22" name="Text 20"/>
          <p:cNvSpPr/>
          <p:nvPr/>
        </p:nvSpPr>
        <p:spPr>
          <a:xfrm>
            <a:off x="4672584" y="1828800"/>
            <a:ext cx="19933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MRR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221224" y="2139696"/>
            <a:ext cx="896112" cy="219456"/>
          </a:xfrm>
          <a:prstGeom prst="rect">
            <a:avLst/>
          </a:prstGeom>
          <a:solidFill>
            <a:srgbClr val="16A34A">
              <a:alpha val="25000"/>
            </a:srgbClr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221224" y="2139696"/>
            <a:ext cx="896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+6.1% vs base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848856" y="1115568"/>
            <a:ext cx="1993392" cy="1371600"/>
          </a:xfrm>
          <a:prstGeom prst="rect">
            <a:avLst/>
          </a:prstGeom>
          <a:solidFill>
            <a:srgbClr val="F0F4F8"/>
          </a:solidFill>
          <a:ln w="19050">
            <a:solidFill>
              <a:srgbClr val="D97706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848856" y="1115568"/>
            <a:ext cx="1993392" cy="6400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848856" y="1207008"/>
            <a:ext cx="19933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0.1621</a:t>
            </a:r>
            <a:endParaRPr lang="en-US" sz="3400" dirty="0"/>
          </a:p>
        </p:txBody>
      </p:sp>
      <p:sp>
        <p:nvSpPr>
          <p:cNvPr id="28" name="Text 26"/>
          <p:cNvSpPr/>
          <p:nvPr/>
        </p:nvSpPr>
        <p:spPr>
          <a:xfrm>
            <a:off x="6848856" y="1828800"/>
            <a:ext cx="19933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P@10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7397496" y="2139696"/>
            <a:ext cx="896112" cy="219456"/>
          </a:xfrm>
          <a:prstGeom prst="rect">
            <a:avLst/>
          </a:prstGeom>
          <a:solidFill>
            <a:srgbClr val="16A34A">
              <a:alpha val="25000"/>
            </a:srgbClr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397496" y="2139696"/>
            <a:ext cx="896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+9.4% vs base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320040" y="260604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Feature Importances (XGBoost)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20040" y="292608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bm25_score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2286000" y="2962656"/>
            <a:ext cx="4114800" cy="182880"/>
          </a:xfrm>
          <a:prstGeom prst="rect">
            <a:avLst/>
          </a:prstGeom>
          <a:solidFill>
            <a:srgbClr val="F0F4F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286000" y="2962656"/>
            <a:ext cx="3505810" cy="1828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837530" y="2926080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21.3%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320040" y="3227832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tfidf_cosine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2286000" y="3264408"/>
            <a:ext cx="4114800" cy="182880"/>
          </a:xfrm>
          <a:prstGeom prst="rect">
            <a:avLst/>
          </a:prstGeom>
          <a:solidFill>
            <a:srgbClr val="F0F4F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286000" y="3264408"/>
            <a:ext cx="2995574" cy="182880"/>
          </a:xfrm>
          <a:prstGeom prst="rect">
            <a:avLst/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327294" y="322783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E5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18.2%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20040" y="3529584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tf_idf_sum_overlap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2286000" y="3566160"/>
            <a:ext cx="4114800" cy="182880"/>
          </a:xfrm>
          <a:prstGeom prst="rect">
            <a:avLst/>
          </a:prstGeom>
          <a:solidFill>
            <a:srgbClr val="F0F4F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286000" y="3566160"/>
            <a:ext cx="2304288" cy="1828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636008" y="352958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14.0%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320040" y="3831336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avg_idf_overlap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2286000" y="3867912"/>
            <a:ext cx="4114800" cy="182880"/>
          </a:xfrm>
          <a:prstGeom prst="rect">
            <a:avLst/>
          </a:prstGeom>
          <a:solidFill>
            <a:srgbClr val="F0F4F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2286000" y="3867912"/>
            <a:ext cx="1613002" cy="1828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944722" y="3831336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9.8%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320040" y="4133088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term_overlap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2286000" y="4169664"/>
            <a:ext cx="4114800" cy="182880"/>
          </a:xfrm>
          <a:prstGeom prst="rect">
            <a:avLst/>
          </a:prstGeom>
          <a:solidFill>
            <a:srgbClr val="F0F4F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2286000" y="4169664"/>
            <a:ext cx="1382573" cy="18288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714293" y="4133088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8.4%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320040" y="443484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jaccard_similarity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2286000" y="4471416"/>
            <a:ext cx="4114800" cy="182880"/>
          </a:xfrm>
          <a:prstGeom prst="rect">
            <a:avLst/>
          </a:prstGeom>
          <a:solidFill>
            <a:srgbClr val="F0F4F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2286000" y="4471416"/>
            <a:ext cx="1168603" cy="1828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500323" y="4434840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7.1%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6481340" y="2719704"/>
            <a:ext cx="2479780" cy="1810512"/>
          </a:xfrm>
          <a:prstGeom prst="rect">
            <a:avLst/>
          </a:prstGeom>
          <a:solidFill>
            <a:srgbClr val="D6E4F7"/>
          </a:solidFill>
          <a:ln w="10160">
            <a:solidFill>
              <a:srgbClr val="2E5FA3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846710" y="2702626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Hyperparameter Tuning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6470925" y="2980913"/>
            <a:ext cx="3474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01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Method: Random Search (10 iters)</a:t>
            </a:r>
            <a:endParaRPr lang="en-US" sz="950" dirty="0"/>
          </a:p>
        </p:txBody>
      </p:sp>
      <p:sp>
        <p:nvSpPr>
          <p:cNvPr id="59" name="Text 57"/>
          <p:cNvSpPr/>
          <p:nvPr/>
        </p:nvSpPr>
        <p:spPr>
          <a:xfrm>
            <a:off x="6470925" y="3218657"/>
            <a:ext cx="3474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01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space: depth, lr, n_trees,</a:t>
            </a:r>
            <a:endParaRPr lang="en-US" sz="950" dirty="0"/>
          </a:p>
        </p:txBody>
      </p:sp>
      <p:sp>
        <p:nvSpPr>
          <p:cNvPr id="60" name="Text 58"/>
          <p:cNvSpPr/>
          <p:nvPr/>
        </p:nvSpPr>
        <p:spPr>
          <a:xfrm>
            <a:off x="6470925" y="3456401"/>
            <a:ext cx="3474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01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subsample, γ, min_child_weight</a:t>
            </a:r>
            <a:endParaRPr lang="en-US" sz="950" dirty="0"/>
          </a:p>
        </p:txBody>
      </p:sp>
      <p:sp>
        <p:nvSpPr>
          <p:cNvPr id="61" name="Text 59"/>
          <p:cNvSpPr/>
          <p:nvPr/>
        </p:nvSpPr>
        <p:spPr>
          <a:xfrm>
            <a:off x="6470925" y="3694145"/>
            <a:ext cx="3474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01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Split: GroupShuffleSplit 80/20</a:t>
            </a:r>
            <a:endParaRPr lang="en-US" sz="950" dirty="0"/>
          </a:p>
        </p:txBody>
      </p:sp>
      <p:sp>
        <p:nvSpPr>
          <p:cNvPr id="62" name="Text 60"/>
          <p:cNvSpPr/>
          <p:nvPr/>
        </p:nvSpPr>
        <p:spPr>
          <a:xfrm>
            <a:off x="6470925" y="3931889"/>
            <a:ext cx="3474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01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Criterion: NDCG@10 on test split</a:t>
            </a:r>
            <a:endParaRPr lang="en-US" sz="950" dirty="0"/>
          </a:p>
        </p:txBody>
      </p:sp>
      <p:sp>
        <p:nvSpPr>
          <p:cNvPr id="63" name="Text 61"/>
          <p:cNvSpPr/>
          <p:nvPr/>
        </p:nvSpPr>
        <p:spPr>
          <a:xfrm>
            <a:off x="6470925" y="4169633"/>
            <a:ext cx="3474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01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model → best_model.pkl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1371600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65760" y="20116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DEMO: Adiba 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30352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Two-Stage Retrieval + Streamlit Interface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0" y="4818888"/>
            <a:ext cx="9144000" cy="3200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4828032"/>
            <a:ext cx="8778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10  | </a:t>
            </a:r>
            <a:r>
              <a:rPr lang="en-US" sz="90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Shafi</a:t>
            </a: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</a:t>
            </a:r>
            <a:r>
              <a:rPr lang="en-US" sz="90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Adrito</a:t>
            </a: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Adiba · </a:t>
            </a:r>
            <a:r>
              <a:rPr lang="en-US" sz="90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Tahmid</a:t>
            </a: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Sadia </a:t>
            </a: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CSE445: Machine Learning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20040" y="1115568"/>
            <a:ext cx="3931920" cy="2103120"/>
          </a:xfrm>
          <a:prstGeom prst="rect">
            <a:avLst/>
          </a:prstGeom>
          <a:solidFill>
            <a:srgbClr val="F0F4F8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1115568"/>
            <a:ext cx="393192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11556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 — BM25 Retrieval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1572768"/>
            <a:ext cx="164592" cy="16459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1554480"/>
            <a:ext cx="3429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01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→ tokenize → BM25.get_scores()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1920240"/>
            <a:ext cx="164592" cy="16459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1901952"/>
            <a:ext cx="3429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01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all 49,293 passages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57200" y="2267712"/>
            <a:ext cx="164592" cy="16459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2249424"/>
            <a:ext cx="3429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01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top-100 candidates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2615184"/>
            <a:ext cx="164592" cy="16459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2596896"/>
            <a:ext cx="3429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01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Complexity: O(|corpus| · |q|)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57200" y="2962656"/>
            <a:ext cx="164592" cy="16459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" y="2944368"/>
            <a:ext cx="3429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01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Time: &lt; 100 ms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251960" y="2194560"/>
            <a:ext cx="320040" cy="0"/>
          </a:xfrm>
          <a:prstGeom prst="line">
            <a:avLst/>
          </a:prstGeom>
          <a:noFill/>
          <a:ln w="25400">
            <a:solidFill>
              <a:srgbClr val="1B2A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26280" y="2054552"/>
            <a:ext cx="228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B2A4A"/>
                </a:solidFill>
              </a:rPr>
              <a:t>▶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800600" y="1115568"/>
            <a:ext cx="3977640" cy="2103120"/>
          </a:xfrm>
          <a:prstGeom prst="rect">
            <a:avLst/>
          </a:prstGeom>
          <a:solidFill>
            <a:srgbClr val="F0F4F8"/>
          </a:solidFill>
          <a:ln w="19050">
            <a:solidFill>
              <a:srgbClr val="2E5FA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800600" y="1115568"/>
            <a:ext cx="3977640" cy="347472"/>
          </a:xfrm>
          <a:prstGeom prst="rect">
            <a:avLst/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00600" y="1115568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 — LambdaMART Re-rank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937760" y="1572768"/>
            <a:ext cx="164592" cy="164592"/>
          </a:xfrm>
          <a:prstGeom prst="ellipse">
            <a:avLst/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166360" y="155448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01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18 features for 100 candidates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937760" y="1920240"/>
            <a:ext cx="164592" cy="164592"/>
          </a:xfrm>
          <a:prstGeom prst="ellipse">
            <a:avLst/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166360" y="1901952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01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best_model.pkl → predict(X)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937760" y="2267712"/>
            <a:ext cx="164592" cy="164592"/>
          </a:xfrm>
          <a:prstGeom prst="ellipse">
            <a:avLst/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166360" y="2249424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01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top-K ranked passages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937760" y="2615184"/>
            <a:ext cx="164592" cy="164592"/>
          </a:xfrm>
          <a:prstGeom prst="ellipse">
            <a:avLst/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166360" y="2596896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01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Complexity: O(100 · 18)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937760" y="2962656"/>
            <a:ext cx="164592" cy="164592"/>
          </a:xfrm>
          <a:prstGeom prst="ellipse">
            <a:avLst/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166360" y="2944368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01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Time: &lt; 50 ms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320040" y="336499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App Features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320040" y="3675888"/>
            <a:ext cx="128016" cy="12801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21208" y="3639312"/>
            <a:ext cx="3931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01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 search bar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320040" y="3895344"/>
            <a:ext cx="128016" cy="12801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21208" y="3858768"/>
            <a:ext cx="3931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01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Sidebar: result count + BM25 pool sliders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320040" y="4114800"/>
            <a:ext cx="128016" cy="12801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21208" y="4078224"/>
            <a:ext cx="3931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01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Colour-coded LTR score badges per result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320040" y="4334256"/>
            <a:ext cx="128016" cy="12801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21208" y="4297680"/>
            <a:ext cx="3931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01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Query-term highlighting in passage text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320040" y="4553712"/>
            <a:ext cx="128016" cy="12801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21208" y="4517136"/>
            <a:ext cx="3931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01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</a:t>
            </a:r>
            <a:r>
              <a:rPr lang="en-US" sz="1000" dirty="0" err="1">
                <a:solidFill>
                  <a:srgbClr val="101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st.cache_resource</a:t>
            </a:r>
            <a:r>
              <a:rPr lang="en-US" sz="1000" dirty="0">
                <a:solidFill>
                  <a:srgbClr val="101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indexes built once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4663440" y="3364992"/>
            <a:ext cx="4114800" cy="34747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663440" y="3364992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streamlit run app.py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4663440" y="374904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 at http://localhost:8501  ·  First load ~1 min (index build)  ·  Every query &lt; 1 sec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74320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 &amp; Future Work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11480" y="822960"/>
            <a:ext cx="50292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960120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Built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11480" y="1325880"/>
            <a:ext cx="201168" cy="2011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32588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" y="1307592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LTR pipeline from raw data to Streamlit demo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11480" y="1801368"/>
            <a:ext cx="201168" cy="2011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80136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85800" y="1783080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hand-crafted features — lexical, semantic, positional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11480" y="2276856"/>
            <a:ext cx="201168" cy="2011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227685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85800" y="2258568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LambdaMART achieving NDCG@10 = 0.8241  |  MAP = 0.7319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11480" y="2752344"/>
            <a:ext cx="201168" cy="2011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275234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85800" y="2734056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Two-stage BM25 + re-rank architecture (&lt; 150 ms / query)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11480" y="3227832"/>
            <a:ext cx="201168" cy="2011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322783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85800" y="3209544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Reproducible: every step scripted, documented, GitHub-ready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0" y="914400"/>
            <a:ext cx="3337560" cy="3657600"/>
          </a:xfrm>
          <a:prstGeom prst="rect">
            <a:avLst/>
          </a:prstGeom>
          <a:solidFill>
            <a:srgbClr val="FFFFFF">
              <a:alpha val="10000"/>
            </a:srgbClr>
          </a:solidFill>
          <a:ln w="10160">
            <a:solidFill>
              <a:srgbClr val="CADCF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0" y="987552"/>
            <a:ext cx="3337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623560" y="1371600"/>
            <a:ext cx="182880" cy="1828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897880" y="1344168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retrieval features (DPR / ColBERT)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623560" y="1828800"/>
            <a:ext cx="182880" cy="1828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897880" y="1801368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MS MARCO training split (82K queries)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623560" y="2286000"/>
            <a:ext cx="182880" cy="1828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897880" y="2258568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cross-encoder ensemble re-ranker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623560" y="2743200"/>
            <a:ext cx="182880" cy="1828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897880" y="2715768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CTR update from user feedback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623560" y="3200400"/>
            <a:ext cx="182880" cy="1828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897880" y="3172968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to cloud (HuggingFace Spaces)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0" y="4818888"/>
            <a:ext cx="9144000" cy="32004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82880" y="4828032"/>
            <a:ext cx="8778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10  | </a:t>
            </a:r>
            <a:r>
              <a:rPr lang="en-US" sz="90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Shafi</a:t>
            </a: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</a:t>
            </a:r>
            <a:r>
              <a:rPr lang="en-US" sz="90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Adrito</a:t>
            </a: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Adiba · </a:t>
            </a:r>
            <a:r>
              <a:rPr lang="en-US" sz="90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Tahmid</a:t>
            </a: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Sadia  |  CSE445: Machine Learning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202</TotalTime>
  <Words>936</Words>
  <Application>Microsoft Office PowerPoint</Application>
  <PresentationFormat>On-screen Show (16:9)</PresentationFormat>
  <Paragraphs>219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Arial</vt:lpstr>
      <vt:lpstr>Calibri</vt:lpstr>
      <vt:lpstr>Courier New</vt:lpstr>
      <vt:lpstr>Mona Sans VF</vt:lpstr>
      <vt:lpstr>Trebuchet MS</vt:lpstr>
      <vt:lpstr>Wingdings 3</vt:lpstr>
      <vt:lpstr>Facet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Search Engine Result Ranking Optimization</dc:title>
  <dc:subject>PptxGenJS Presentation</dc:subject>
  <dc:creator>Group 05 — CSE445</dc:creator>
  <cp:lastModifiedBy>atikur.shafi@northsouth.edu</cp:lastModifiedBy>
  <cp:revision>9</cp:revision>
  <dcterms:created xsi:type="dcterms:W3CDTF">2026-04-29T12:00:53Z</dcterms:created>
  <dcterms:modified xsi:type="dcterms:W3CDTF">2026-08-21T20:00:38Z</dcterms:modified>
</cp:coreProperties>
</file>